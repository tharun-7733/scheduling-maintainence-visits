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1" r:id="rId8"/>
    <p:sldId id="268" r:id="rId9"/>
    <p:sldId id="261" r:id="rId10"/>
    <p:sldId id="270" r:id="rId11"/>
    <p:sldId id="263" r:id="rId12"/>
    <p:sldId id="269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twick Bold" pitchFamily="2" charset="77"/>
      <p:regular r:id="rId18"/>
      <p:bold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20FF"/>
    <a:srgbClr val="007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 autoAdjust="0"/>
    <p:restoredTop sz="94602" autoAdjust="0"/>
  </p:normalViewPr>
  <p:slideViewPr>
    <p:cSldViewPr>
      <p:cViewPr varScale="1">
        <p:scale>
          <a:sx n="71" d="100"/>
          <a:sy n="71" d="100"/>
        </p:scale>
        <p:origin x="224" y="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10233874" TargetMode="External"/><Relationship Id="rId13" Type="http://schemas.openxmlformats.org/officeDocument/2006/relationships/hyperlink" Target="https://www.geeksforgeeks.org/software-engineering/what-is-preventive-maintenance-pm-a-complete-guide/" TargetMode="External"/><Relationship Id="rId3" Type="http://schemas.openxmlformats.org/officeDocument/2006/relationships/image" Target="../media/image2.svg"/><Relationship Id="rId7" Type="http://schemas.openxmlformats.org/officeDocument/2006/relationships/hyperlink" Target="https://www.sciencedirect.com/science/article/abs/pii/S0952197623008990" TargetMode="External"/><Relationship Id="rId12" Type="http://schemas.openxmlformats.org/officeDocument/2006/relationships/hyperlink" Target="https://www.geeksforgeeks.org/machine-learning/understanding-logistic-regressio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esearchgate.net/publication/384638324_Strategies_For_Optimizing_The_Management_Of_Medical_Equipment_In_Large_Healthcare_Institutions" TargetMode="External"/><Relationship Id="rId11" Type="http://schemas.openxmlformats.org/officeDocument/2006/relationships/hyperlink" Target="https://www.who.int/teams/health-product-policy-and-standards/assistive-and-medical-technology/medical-devices/policies" TargetMode="External"/><Relationship Id="rId5" Type="http://schemas.openxmlformats.org/officeDocument/2006/relationships/hyperlink" Target="https://www.sciexplor.com/articles/bmeh.2024.135" TargetMode="External"/><Relationship Id="rId10" Type="http://schemas.openxmlformats.org/officeDocument/2006/relationships/hyperlink" Target="https://www.researchgate.net/publication/339627406_Space_mining_is_the_industry_of_the_future_or_maybe_the_present" TargetMode="External"/><Relationship Id="rId4" Type="http://schemas.openxmlformats.org/officeDocument/2006/relationships/hyperlink" Target="https://ieeexplore.ieee.org/document/6648845" TargetMode="External"/><Relationship Id="rId9" Type="http://schemas.openxmlformats.org/officeDocument/2006/relationships/hyperlink" Target="https://www.researchgate.net/publication/391526112_Predictive_Maintenance_Using_Machine_Learning_Techniques_and_Applications" TargetMode="External"/><Relationship Id="rId14" Type="http://schemas.openxmlformats.org/officeDocument/2006/relationships/hyperlink" Target="https://www.sciencedirect.com/science/article/pii/S25431064250002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85864" y="2590007"/>
            <a:ext cx="1716289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5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Predictive Maintenance Scheduling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2BB790-0156-8C65-31F1-2AE442195243}"/>
              </a:ext>
            </a:extLst>
          </p:cNvPr>
          <p:cNvSpPr txBox="1"/>
          <p:nvPr/>
        </p:nvSpPr>
        <p:spPr>
          <a:xfrm>
            <a:off x="2665863" y="4581461"/>
            <a:ext cx="6309360" cy="19062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Tarun Teja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Umesh Chandra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Manish B</a:t>
            </a: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D1A21A79-2892-6AFB-0880-F2F5DC5B6D66}"/>
              </a:ext>
            </a:extLst>
          </p:cNvPr>
          <p:cNvGrpSpPr/>
          <p:nvPr/>
        </p:nvGrpSpPr>
        <p:grpSpPr>
          <a:xfrm rot="5400000" flipV="1">
            <a:off x="1424268" y="5509906"/>
            <a:ext cx="2116333" cy="366857"/>
            <a:chOff x="202650" y="-38100"/>
            <a:chExt cx="999767" cy="100271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D69C769-3E96-84FA-E6F4-DF016129562B}"/>
                </a:ext>
              </a:extLst>
            </p:cNvPr>
            <p:cNvSpPr/>
            <p:nvPr/>
          </p:nvSpPr>
          <p:spPr>
            <a:xfrm>
              <a:off x="202650" y="49675"/>
              <a:ext cx="816096" cy="12496"/>
            </a:xfrm>
            <a:custGeom>
              <a:avLst/>
              <a:gdLst/>
              <a:ahLst/>
              <a:cxnLst/>
              <a:rect l="l" t="t" r="r" b="b"/>
              <a:pathLst>
                <a:path w="1202417" h="62171">
                  <a:moveTo>
                    <a:pt x="0" y="0"/>
                  </a:moveTo>
                  <a:lnTo>
                    <a:pt x="1202417" y="0"/>
                  </a:lnTo>
                  <a:lnTo>
                    <a:pt x="1202417" y="62171"/>
                  </a:lnTo>
                  <a:lnTo>
                    <a:pt x="0" y="62171"/>
                  </a:lnTo>
                  <a:close/>
                </a:path>
              </a:pathLst>
            </a:custGeom>
            <a:solidFill>
              <a:srgbClr val="E1EB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9">
              <a:extLst>
                <a:ext uri="{FF2B5EF4-FFF2-40B4-BE49-F238E27FC236}">
                  <a16:creationId xmlns:a16="http://schemas.microsoft.com/office/drawing/2014/main" id="{29A3E5DA-3469-F90E-AEE0-AD404C1D27EA}"/>
                </a:ext>
              </a:extLst>
            </p:cNvPr>
            <p:cNvSpPr txBox="1"/>
            <p:nvPr/>
          </p:nvSpPr>
          <p:spPr>
            <a:xfrm>
              <a:off x="202651" y="-38100"/>
              <a:ext cx="999766" cy="100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8" name="TextBox 19">
            <a:extLst>
              <a:ext uri="{FF2B5EF4-FFF2-40B4-BE49-F238E27FC236}">
                <a16:creationId xmlns:a16="http://schemas.microsoft.com/office/drawing/2014/main" id="{5BED99E8-01EE-26C9-1839-4782A727B048}"/>
              </a:ext>
            </a:extLst>
          </p:cNvPr>
          <p:cNvSpPr txBox="1"/>
          <p:nvPr/>
        </p:nvSpPr>
        <p:spPr>
          <a:xfrm rot="1162526">
            <a:off x="6315363" y="5480801"/>
            <a:ext cx="4565428" cy="380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59"/>
              </a:lnSpc>
            </a:pPr>
            <a:endParaRPr/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51CBABBF-73E7-EE2B-2435-9D7A904CC61F}"/>
              </a:ext>
            </a:extLst>
          </p:cNvPr>
          <p:cNvSpPr txBox="1"/>
          <p:nvPr/>
        </p:nvSpPr>
        <p:spPr>
          <a:xfrm>
            <a:off x="183508" y="391459"/>
            <a:ext cx="17162898" cy="1738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5000" dirty="0">
                <a:solidFill>
                  <a:schemeClr val="bg2">
                    <a:lumMod val="25000"/>
                  </a:schemeClr>
                </a:solidFill>
                <a:latin typeface="Gatwick Bold"/>
                <a:ea typeface="Gatwick Bold"/>
                <a:cs typeface="Gatwick Bold"/>
                <a:sym typeface="Gatwick Bold"/>
              </a:rPr>
              <a:t>INT395</a:t>
            </a:r>
          </a:p>
          <a:p>
            <a:pPr algn="ctr">
              <a:lnSpc>
                <a:spcPts val="7200"/>
              </a:lnSpc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  <a:latin typeface="Gatwick Bold"/>
                <a:ea typeface="Gatwick Bold"/>
                <a:cs typeface="Gatwick Bold"/>
                <a:sym typeface="Gatwick Bold"/>
              </a:rPr>
              <a:t>CA-1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3B22-73D1-FD89-83F4-6E3826085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CC78760-87EC-157A-F2C3-D50429AF0A83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6BF5852-98A9-04CA-6BD4-CFE210839FED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502C7FC-57A9-EF55-1CD5-DF9B0370EFA8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0B08797-14A9-21E4-EA3A-F2AC2C2D7721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EF2AC7F-6775-D321-CA8F-D97F8E097F5C}"/>
              </a:ext>
            </a:extLst>
          </p:cNvPr>
          <p:cNvSpPr txBox="1"/>
          <p:nvPr/>
        </p:nvSpPr>
        <p:spPr>
          <a:xfrm>
            <a:off x="820302" y="895773"/>
            <a:ext cx="1281949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Outline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457CEE-652D-D5EF-EED6-27BAAE519305}"/>
              </a:ext>
            </a:extLst>
          </p:cNvPr>
          <p:cNvSpPr txBox="1"/>
          <p:nvPr/>
        </p:nvSpPr>
        <p:spPr>
          <a:xfrm>
            <a:off x="1295400" y="2400300"/>
            <a:ext cx="8610600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Background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Problem Statement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Dataset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Methodology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Models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6. Results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7. Caveats &amp; Limitations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8. Conclusion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9. Acknowledgements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 References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07E5BA-36FD-70BC-C84D-C7D6A5609971}"/>
              </a:ext>
            </a:extLst>
          </p:cNvPr>
          <p:cNvCxnSpPr>
            <a:cxnSpLocks/>
          </p:cNvCxnSpPr>
          <p:nvPr/>
        </p:nvCxnSpPr>
        <p:spPr>
          <a:xfrm>
            <a:off x="1371600" y="30861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5905DBA-3143-BD1E-7BAA-4E3C074798F6}"/>
              </a:ext>
            </a:extLst>
          </p:cNvPr>
          <p:cNvCxnSpPr>
            <a:cxnSpLocks/>
          </p:cNvCxnSpPr>
          <p:nvPr/>
        </p:nvCxnSpPr>
        <p:spPr>
          <a:xfrm>
            <a:off x="1371600" y="36195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CCF91B-4085-3D97-6A92-38ECC1CAB539}"/>
              </a:ext>
            </a:extLst>
          </p:cNvPr>
          <p:cNvCxnSpPr>
            <a:cxnSpLocks/>
          </p:cNvCxnSpPr>
          <p:nvPr/>
        </p:nvCxnSpPr>
        <p:spPr>
          <a:xfrm>
            <a:off x="1371600" y="42291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8854D54-B4BA-5EFC-08A8-F48D609F5A95}"/>
              </a:ext>
            </a:extLst>
          </p:cNvPr>
          <p:cNvCxnSpPr>
            <a:cxnSpLocks/>
          </p:cNvCxnSpPr>
          <p:nvPr/>
        </p:nvCxnSpPr>
        <p:spPr>
          <a:xfrm>
            <a:off x="1371600" y="47625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8B6652-9424-32C9-1A72-116A41C6F1C9}"/>
              </a:ext>
            </a:extLst>
          </p:cNvPr>
          <p:cNvCxnSpPr>
            <a:cxnSpLocks/>
          </p:cNvCxnSpPr>
          <p:nvPr/>
        </p:nvCxnSpPr>
        <p:spPr>
          <a:xfrm>
            <a:off x="1371600" y="53721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0A6429-9B5B-F6BA-34CE-81CCA9E1D605}"/>
              </a:ext>
            </a:extLst>
          </p:cNvPr>
          <p:cNvCxnSpPr>
            <a:cxnSpLocks/>
          </p:cNvCxnSpPr>
          <p:nvPr/>
        </p:nvCxnSpPr>
        <p:spPr>
          <a:xfrm>
            <a:off x="1371600" y="59055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1B0DC8-9B2E-24F2-42F3-A01A346E96FE}"/>
              </a:ext>
            </a:extLst>
          </p:cNvPr>
          <p:cNvCxnSpPr>
            <a:cxnSpLocks/>
          </p:cNvCxnSpPr>
          <p:nvPr/>
        </p:nvCxnSpPr>
        <p:spPr>
          <a:xfrm>
            <a:off x="1371600" y="65151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8709D8-36A8-6072-E9CE-D52C9905CB06}"/>
              </a:ext>
            </a:extLst>
          </p:cNvPr>
          <p:cNvCxnSpPr>
            <a:cxnSpLocks/>
          </p:cNvCxnSpPr>
          <p:nvPr/>
        </p:nvCxnSpPr>
        <p:spPr>
          <a:xfrm>
            <a:off x="1371600" y="70485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B764C8-1EA7-AA71-37D1-EDAA97B69ED3}"/>
              </a:ext>
            </a:extLst>
          </p:cNvPr>
          <p:cNvCxnSpPr>
            <a:cxnSpLocks/>
          </p:cNvCxnSpPr>
          <p:nvPr/>
        </p:nvCxnSpPr>
        <p:spPr>
          <a:xfrm>
            <a:off x="1371600" y="7658100"/>
            <a:ext cx="6781800" cy="0"/>
          </a:xfrm>
          <a:prstGeom prst="line">
            <a:avLst/>
          </a:prstGeom>
          <a:ln cmpd="sng">
            <a:solidFill>
              <a:srgbClr val="642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14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23A3C-A2FF-D759-E439-CB0557ED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229F343-14EA-5BD2-7ABD-86212B7D907C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F57C01-AAA5-CE87-B23A-BA814D774D4E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70FB92-A6B7-D441-D340-636F2F878BB0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BE6BB1D-97A9-B5ED-2C7C-3FB8AF896BED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4F0DEB4-7E71-A961-AA76-EF0F9524F1A3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Background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D15EA4E9-0B89-C092-CEC8-9620DA6CDF5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0" y="2705100"/>
            <a:ext cx="16002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Hospitals rely on medical devices, and unexpected failures can disrupt patient care and increase costs.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Traditional maintenance is mostly schedule-based and doesn’t use data to anticipate failures.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Device usage, age, downtime, and past failures contain patterns that can help predict risk.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Using machine learning to classify maintenance needs can make hospital operations safer and more efficient.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6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CD88-74F6-191C-9055-D5D7F15C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3EC7797-479F-14BD-424F-7CE8826AF3F6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5A3E36-7A74-0154-3C27-5A317A951E5A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5BC3C34-5D93-3A59-09C7-D40BD0E71A42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405ECD2-0DC5-6312-9A91-CB65631FFEEC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E01167-B245-4DFB-CFBB-533D83B9C14D}"/>
              </a:ext>
            </a:extLst>
          </p:cNvPr>
          <p:cNvSpPr txBox="1"/>
          <p:nvPr/>
        </p:nvSpPr>
        <p:spPr>
          <a:xfrm>
            <a:off x="820302" y="895773"/>
            <a:ext cx="1137169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Problem Statement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50BFD65-66AF-5E5E-448C-19999B7FF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817" y="2894964"/>
            <a:ext cx="1690538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Predict the maintenance risk level of medical devices based on their operational and maintenance history.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Classify each device into a maintenance class so hospitals can prioritize which devices need attention first.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Build a model that uses device features (age, downtime, failures, cost, etc.) to accurately identify high-risk equipment.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Enable proactive maintenance decisions instead of reacting to unexpected device failures.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633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95D1-1619-A121-6290-AD234EB5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AEF9A95D-7D0E-9202-FF1B-9ED544685D19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30E39C1-5E2A-5524-BDA8-66B128CD0485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C93F011-A6C4-0104-5D36-59D1B2C159F3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87F4DC4-0E3B-3881-3046-F4B77B7F631C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74B8763-B5EF-4D27-F327-48549A1E98B8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Dataset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38D6F6-000D-6CC4-A9F6-3CFE105AF3E0}"/>
              </a:ext>
            </a:extLst>
          </p:cNvPr>
          <p:cNvSpPr txBox="1"/>
          <p:nvPr/>
        </p:nvSpPr>
        <p:spPr>
          <a:xfrm>
            <a:off x="1371600" y="2476500"/>
            <a:ext cx="166878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 of the dataset: </a:t>
            </a: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Kaggle</a:t>
            </a:r>
          </a:p>
          <a:p>
            <a:b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 involved: </a:t>
            </a: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Device type, age, manufacturer, model, country, maintenance cost, downtime, maintenance frequency, failure event count, and maintenance report text.</a:t>
            </a:r>
          </a:p>
          <a:p>
            <a:endParaRPr lang="en-US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Size of dataset:</a:t>
            </a: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5,000 rows and 20 columns.</a:t>
            </a:r>
          </a:p>
          <a:p>
            <a:endParaRPr lang="en-US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Preprocessing done: </a:t>
            </a: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Handled categorical encoding, scaled numerical features, checked for missing values, and cleaned text fields.</a:t>
            </a:r>
          </a:p>
          <a:p>
            <a:endParaRPr lang="en-US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 challenges with the data: </a:t>
            </a:r>
            <a:r>
              <a:rPr lang="en-US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Mixed data types, noisy free-text maintenance reports, and risk of model overfitting due to limited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5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97F2E-D58D-1FBA-BCEE-9B29C670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78E8E35-8139-A815-5A1B-CF9B64C912C9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F363854-0166-6B21-EAC7-ACDA5090D53E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807445E-BB32-AB96-9320-C4BBB2DD7EDE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14E7F2-D695-26BC-4389-592A2095C2EE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DB150F7-57C1-05F2-8D4D-21591D9BD0C7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284A2-7CA9-059B-2EF2-E4F62336AAFD}"/>
              </a:ext>
            </a:extLst>
          </p:cNvPr>
          <p:cNvSpPr txBox="1"/>
          <p:nvPr/>
        </p:nvSpPr>
        <p:spPr>
          <a:xfrm>
            <a:off x="3578646" y="2095500"/>
            <a:ext cx="10058400" cy="7532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Load dataset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71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Clean data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71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Encode categorical features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rgbClr val="0071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Scale numeric columns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rgbClr val="0071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Split into training and testing sets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rgbClr val="0071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Train multiple ML models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rgbClr val="0071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1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Compare performance metrics.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5260B8-AC51-BF39-963E-7D22FC36728E}"/>
              </a:ext>
            </a:extLst>
          </p:cNvPr>
          <p:cNvCxnSpPr>
            <a:cxnSpLocks/>
          </p:cNvCxnSpPr>
          <p:nvPr/>
        </p:nvCxnSpPr>
        <p:spPr>
          <a:xfrm flipH="1">
            <a:off x="8605092" y="2718900"/>
            <a:ext cx="2754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6D2C89-61D8-BD77-3375-5DA6457A7066}"/>
              </a:ext>
            </a:extLst>
          </p:cNvPr>
          <p:cNvCxnSpPr>
            <a:cxnSpLocks/>
          </p:cNvCxnSpPr>
          <p:nvPr/>
        </p:nvCxnSpPr>
        <p:spPr>
          <a:xfrm flipH="1">
            <a:off x="8605092" y="3893100"/>
            <a:ext cx="2754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8E40F2-F9A8-2BCA-DE5F-CF7FDE29D9C8}"/>
              </a:ext>
            </a:extLst>
          </p:cNvPr>
          <p:cNvCxnSpPr>
            <a:cxnSpLocks/>
          </p:cNvCxnSpPr>
          <p:nvPr/>
        </p:nvCxnSpPr>
        <p:spPr>
          <a:xfrm flipH="1">
            <a:off x="8602338" y="7392036"/>
            <a:ext cx="2754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13FFBF-1E04-A2E2-ECFF-550E6E64817D}"/>
              </a:ext>
            </a:extLst>
          </p:cNvPr>
          <p:cNvCxnSpPr>
            <a:cxnSpLocks/>
          </p:cNvCxnSpPr>
          <p:nvPr/>
        </p:nvCxnSpPr>
        <p:spPr>
          <a:xfrm flipH="1">
            <a:off x="8605092" y="6183634"/>
            <a:ext cx="2754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9F0FC3-FAAE-C350-4710-B8C2745811DC}"/>
              </a:ext>
            </a:extLst>
          </p:cNvPr>
          <p:cNvCxnSpPr>
            <a:cxnSpLocks/>
          </p:cNvCxnSpPr>
          <p:nvPr/>
        </p:nvCxnSpPr>
        <p:spPr>
          <a:xfrm flipH="1">
            <a:off x="8602338" y="5067300"/>
            <a:ext cx="2754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B51E0C-74C5-6C7C-9CC8-47AD59AEFC99}"/>
              </a:ext>
            </a:extLst>
          </p:cNvPr>
          <p:cNvCxnSpPr>
            <a:cxnSpLocks/>
          </p:cNvCxnSpPr>
          <p:nvPr/>
        </p:nvCxnSpPr>
        <p:spPr>
          <a:xfrm flipH="1">
            <a:off x="8602338" y="8474168"/>
            <a:ext cx="2754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1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D5D1A-2B6E-FD1E-B23A-19702BFC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A6682D9-5AD6-CEEB-E6AD-A8E1D24AC40F}"/>
              </a:ext>
            </a:extLst>
          </p:cNvPr>
          <p:cNvGrpSpPr/>
          <p:nvPr/>
        </p:nvGrpSpPr>
        <p:grpSpPr>
          <a:xfrm>
            <a:off x="-51983" y="441104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0B33D98-7F31-34B8-CB34-C9292ADFDA05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E79467-4A52-CDA4-BAB4-D92B360755F1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F83E2F3-02B4-3ABF-E877-31E205F94766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06A1BC-48C5-85DA-D39D-F6A7543A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14" y="1475296"/>
            <a:ext cx="584213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C56789B-7D31-6B25-9F66-6A0D07EB0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143" y="1475296"/>
            <a:ext cx="5943600" cy="418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7832AF6-C9AA-2BE9-E80D-76240244F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14" y="6112573"/>
            <a:ext cx="5943600" cy="414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E2A3AD32-4542-4EF6-29E4-4D8823A64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143" y="6009487"/>
            <a:ext cx="5943600" cy="425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56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D231-7080-9DD4-6796-7EE3743B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CFCFD4B-73B1-A9E8-CCA0-BE0563F7D831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DDDB0E1-7242-809D-7AE7-A6121EE26F26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88C18A4-CAF6-6BCE-1291-ACF94597DBED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33F159F-9BF7-9CBE-635F-D810EE8DE242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54E4743-D902-0DDF-65BA-2D5AB5FB3C59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Methodology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9FF9B0D-B731-B8D0-E0B5-AFF2DCA2D67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47496" y="2627426"/>
            <a:ext cx="16459200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Train–Test Split: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 split into training and testing sets to evaluate model generalization.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 Engineering: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Label encoding for categorical fields, handling text fields, scaling/normalizing numerical features.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Algorithms Tried: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Logistic Regression, KNN, Decision Tree, Random Forest, Gradient Boosting, XGBoost classifier, SVM.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 Model Choice: 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XGBoost selected because it achieved the highest accuracy and consistently outperformed the other models.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 Used: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Python, pandas, NumPy, scikit-learn, XGBoost, Matplotlib/Seaborn for visualization.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883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35FD6-CD9D-7CE9-4621-CA64EAF3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FCB4683-2C60-EA1F-5D85-520CC643B659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6933AF3-53FD-5EC1-D410-96D45153B67E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A2B9C5A-153E-B565-EC10-E44304B9CF6F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EECCE6B-13F7-6953-49EE-8B61EA04DEBA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236CEFA-4202-6F76-F291-7776B056B9FE}"/>
              </a:ext>
            </a:extLst>
          </p:cNvPr>
          <p:cNvSpPr txBox="1"/>
          <p:nvPr/>
        </p:nvSpPr>
        <p:spPr>
          <a:xfrm>
            <a:off x="820302" y="895773"/>
            <a:ext cx="1144789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Model Explanation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4DC962-D5FC-1AF2-7787-ADAF54AED16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69267" y="2663992"/>
            <a:ext cx="1630680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We tested 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seven models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Logistic Regression, KNN, Decision Tree, Random Forest, Gradient Boosting, XGBoost, and SVM.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Each model learned from device features like age, downtime, cost, and past failure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Our best-performing model was </a:t>
            </a:r>
            <a:r>
              <a:rPr lang="en-US" altLang="en-US" sz="25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Logistic Regression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which builds many small decision trees and improves them step by 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5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Logistic Regression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captured the patterns in the data most effectively, giving the highest accuracy among all models.</a:t>
            </a:r>
          </a:p>
        </p:txBody>
      </p:sp>
    </p:spTree>
    <p:extLst>
      <p:ext uri="{BB962C8B-B14F-4D97-AF65-F5344CB8AC3E}">
        <p14:creationId xmlns:p14="http://schemas.microsoft.com/office/powerpoint/2010/main" val="449594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05C6-8AE4-472D-DC17-28C2AEFC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F874F7F-EB6D-216E-15FC-1B1728586DF0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864F3F9-7429-3533-4500-41214C2A7EF4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22D4B87-7FC0-209A-514C-CB3AEA38B261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D8BBEF9-C634-8155-2EC1-0310A64867D2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33B507B-B4D9-B51D-F3E6-BB1AD7AAC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303" y="1407746"/>
            <a:ext cx="8325394" cy="747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3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8D346-DD7C-F17E-4D64-E6C21EDE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31AFECE-3869-1DAA-29EF-EB2892818727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6E5D156-5386-2FE4-BD7E-1A2AFC65C05F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2915F38-EBEF-48E5-03E4-A74459311A5B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D93ACFF-BF58-4823-7338-D02E5955645C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94304E5-D1D3-9439-4CB7-591B2C60A182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Results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F3C791-BE36-F823-7E52-FD0329E7E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455840"/>
              </p:ext>
            </p:extLst>
          </p:nvPr>
        </p:nvGraphicFramePr>
        <p:xfrm>
          <a:off x="3048000" y="2611230"/>
          <a:ext cx="12192000" cy="4749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870396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420138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123829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35769516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solidFill>
                      <a:srgbClr val="642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</a:t>
                      </a:r>
                    </a:p>
                  </a:txBody>
                  <a:tcPr anchor="ctr">
                    <a:solidFill>
                      <a:srgbClr val="642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Train_acc</a:t>
                      </a:r>
                    </a:p>
                  </a:txBody>
                  <a:tcPr anchor="ctr">
                    <a:solidFill>
                      <a:srgbClr val="642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Test_acc</a:t>
                      </a:r>
                    </a:p>
                  </a:txBody>
                  <a:tcPr anchor="ctr">
                    <a:solidFill>
                      <a:srgbClr val="642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216356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0.906598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0.887952</a:t>
                      </a:r>
                      <a:endParaRPr lang="en-US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16562590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0.758361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0.657831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22096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0.934318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0.784337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010928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0.960832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0.842169</a:t>
                      </a:r>
                      <a:endParaRPr lang="en-US" sz="2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316129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0.936427</a:t>
                      </a:r>
                      <a:endParaRPr lang="en-US" sz="2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0.885542</a:t>
                      </a:r>
                      <a:endParaRPr lang="en-US" sz="2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713088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XGBoost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0.892771</a:t>
                      </a:r>
                      <a:endParaRPr lang="en-US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563358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0.976198</a:t>
                      </a:r>
                      <a:endParaRPr lang="en-US" sz="2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0.861446</a:t>
                      </a:r>
                      <a:endParaRPr lang="en-US" sz="2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802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24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6996-197B-65B2-6211-E0C2DD09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5B76458-1885-93D0-4DFF-2DBF179E3BBE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0D3069A-A947-C735-0FF7-C646B4938E79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2F9E9AC-86BE-9C81-292D-7289C62CA02D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375613B-F341-31C8-7579-2342EBFF5F72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C451363-253F-F723-6C14-C86737DDA011}"/>
              </a:ext>
            </a:extLst>
          </p:cNvPr>
          <p:cNvSpPr txBox="1"/>
          <p:nvPr/>
        </p:nvSpPr>
        <p:spPr>
          <a:xfrm>
            <a:off x="838200" y="9184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38CF1-136B-794C-2B07-690FE06996F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00200" y="2476500"/>
            <a:ext cx="16687800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 Performance:</a:t>
            </a:r>
            <a:r>
              <a:rPr lang="en-US" altLang="en-US" sz="25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5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Logistic Regression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achieved the highest accuracy (≈90%), outperforming Logistic Regression, Random Forest, SVM, and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Confusion Matrix:</a:t>
            </a:r>
            <a:r>
              <a:rPr lang="en-US" altLang="en-US" sz="25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Shows almost perfect classification with minimal mislabels, confirming the model’s reliability on this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Graphs:</a:t>
            </a:r>
            <a:r>
              <a:rPr lang="en-US" altLang="en-US" sz="25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ROC curves are near the top-left corner, and model comparison plots show XGBoost leading all other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Interpretation:</a:t>
            </a:r>
            <a:r>
              <a:rPr lang="en-US" altLang="en-US" sz="25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features—device age, downtime, maintenance cost, and failure history—carry strong predictive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 model can accurately classify device maintenance risk and supports proactive maintenance planning.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3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C78C5-BCA0-2507-37E2-7C252638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8D76D4E-53DD-4674-A9B0-C1C98AC00457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D630112-DA2C-FC8F-0ABF-A19DEAB8EEAB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AA61F4-408C-B364-994B-C293CF68DAC2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97CD339-5F92-7431-335D-1B8F80EDDC6A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7EFE142-838F-B0F3-3860-F4EC19F09C04}"/>
              </a:ext>
            </a:extLst>
          </p:cNvPr>
          <p:cNvSpPr txBox="1"/>
          <p:nvPr/>
        </p:nvSpPr>
        <p:spPr>
          <a:xfrm>
            <a:off x="762000" y="918473"/>
            <a:ext cx="1213369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Caveats &amp;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11369-030F-F101-8D31-6D310A10718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0" y="2552700"/>
            <a:ext cx="16383000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Dataset is from Kaggle, so it may not fully represent real hospital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5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Text fields (maintenance reports) contain noise and weren’t deeply processed.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Model may not generalize well to different manufacturers, hospitals, or real-world device usage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Predictions support decision-making but do 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replace expert technician judgment.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777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8A5E-724F-D061-2AE5-E667E867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9CB977F-0B51-47F1-BFFB-B39AE11CA455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BAAF374-B6DB-49CC-C1A2-7290F66ACF50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D804BA2-7957-16BB-F8D5-B1D7511A664C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E1C6011-0CA0-A60B-93CE-1BEB5C089392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A56FC2A-822C-5022-ED89-AB82783261AF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2AF527-3DA3-A38E-846D-A3BACA745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266" y="2628900"/>
            <a:ext cx="1600913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We built a machine learning model that predicts maintenance needs for medical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The results show strong predictive power, helping reduce unexpected failures and downtime.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This approach supports better technician scheduling and improves overall patient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The project demonstrates how data-driven maintenance can make hospital operations more efficient.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9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755C-88DF-F1CB-BF86-D1BF9D6F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AA571CF7-86BA-1D4A-A512-E2A2AFC137CB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F27BA36-2586-9CA4-AB52-B9A570484939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D58AE12-07C2-AAB1-9C20-E046A0376049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95F4CC3-A7B2-B2A9-12EE-F51586D0BF77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960C6C9-038D-3969-E15E-5FECD2BA5D31}"/>
              </a:ext>
            </a:extLst>
          </p:cNvPr>
          <p:cNvSpPr txBox="1"/>
          <p:nvPr/>
        </p:nvSpPr>
        <p:spPr>
          <a:xfrm>
            <a:off x="820302" y="895773"/>
            <a:ext cx="1106689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Acknowledgements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19B0E2-3B7E-3B77-AA1A-680CE505AE5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52938" y="2705100"/>
            <a:ext cx="14572098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Instructor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for guidance throughout the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members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for collaboration and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 source: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Kaggle medical device maintenance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Anyone who provided feedback or technical help during development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2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50414-6FCC-972F-4E36-BA187BF5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67073E8-3FF0-9F0E-4F8C-59C5AED28805}"/>
              </a:ext>
            </a:extLst>
          </p:cNvPr>
          <p:cNvGrpSpPr/>
          <p:nvPr/>
        </p:nvGrpSpPr>
        <p:grpSpPr>
          <a:xfrm>
            <a:off x="0" y="873903"/>
            <a:ext cx="585864" cy="1012470"/>
            <a:chOff x="0" y="0"/>
            <a:chExt cx="154302" cy="266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3DB721E-F4AB-A2D1-E006-E73D1E97A7C1}"/>
                </a:ext>
              </a:extLst>
            </p:cNvPr>
            <p:cNvSpPr/>
            <p:nvPr/>
          </p:nvSpPr>
          <p:spPr>
            <a:xfrm>
              <a:off x="0" y="0"/>
              <a:ext cx="154302" cy="266659"/>
            </a:xfrm>
            <a:custGeom>
              <a:avLst/>
              <a:gdLst/>
              <a:ahLst/>
              <a:cxnLst/>
              <a:rect l="l" t="t" r="r" b="b"/>
              <a:pathLst>
                <a:path w="154302" h="266659">
                  <a:moveTo>
                    <a:pt x="0" y="0"/>
                  </a:moveTo>
                  <a:lnTo>
                    <a:pt x="154302" y="0"/>
                  </a:lnTo>
                  <a:lnTo>
                    <a:pt x="154302" y="266659"/>
                  </a:lnTo>
                  <a:lnTo>
                    <a:pt x="0" y="266659"/>
                  </a:lnTo>
                  <a:close/>
                </a:path>
              </a:pathLst>
            </a:custGeom>
            <a:solidFill>
              <a:srgbClr val="642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F49D0C-6889-20DE-0747-EA2EA064B272}"/>
                </a:ext>
              </a:extLst>
            </p:cNvPr>
            <p:cNvSpPr txBox="1"/>
            <p:nvPr/>
          </p:nvSpPr>
          <p:spPr>
            <a:xfrm>
              <a:off x="0" y="-38100"/>
              <a:ext cx="154302" cy="304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1DBA113-6CAE-7894-4798-BBC8D35AE49A}"/>
              </a:ext>
            </a:extLst>
          </p:cNvPr>
          <p:cNvSpPr/>
          <p:nvPr/>
        </p:nvSpPr>
        <p:spPr>
          <a:xfrm>
            <a:off x="-49993" y="7392036"/>
            <a:ext cx="3438521" cy="2985929"/>
          </a:xfrm>
          <a:custGeom>
            <a:avLst/>
            <a:gdLst/>
            <a:ahLst/>
            <a:cxnLst/>
            <a:rect l="l" t="t" r="r" b="b"/>
            <a:pathLst>
              <a:path w="3438521" h="2985929">
                <a:moveTo>
                  <a:pt x="0" y="0"/>
                </a:moveTo>
                <a:lnTo>
                  <a:pt x="3438521" y="0"/>
                </a:lnTo>
                <a:lnTo>
                  <a:pt x="3438521" y="2985929"/>
                </a:lnTo>
                <a:lnTo>
                  <a:pt x="0" y="2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9949" b="-233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A5C143E-005C-C6B8-9BB2-766048B85685}"/>
              </a:ext>
            </a:extLst>
          </p:cNvPr>
          <p:cNvSpPr txBox="1"/>
          <p:nvPr/>
        </p:nvSpPr>
        <p:spPr>
          <a:xfrm>
            <a:off x="820302" y="895773"/>
            <a:ext cx="65216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6420FF"/>
                </a:solidFill>
                <a:latin typeface="Gatwick Bold"/>
                <a:ea typeface="Gatwick Bold"/>
                <a:cs typeface="Gatwick Bold"/>
                <a:sym typeface="Gatwick Bold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08FC1-7DFF-8419-6CA1-52B5BCD815A0}"/>
              </a:ext>
            </a:extLst>
          </p:cNvPr>
          <p:cNvSpPr txBox="1"/>
          <p:nvPr/>
        </p:nvSpPr>
        <p:spPr>
          <a:xfrm>
            <a:off x="0" y="1307807"/>
            <a:ext cx="17461960" cy="80083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4"/>
              </a:rPr>
              <a:t>https://ieeexplore.ieee.org/document/6648845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5"/>
              </a:rPr>
              <a:t>https://www.sciexplor.com/articles/bmeh.2024.135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6"/>
              </a:rPr>
              <a:t>https://www.researchgate.net/publication/384638324_Strategies_For_Optimizing_The_Management_Of_Medical_Equipment_In_Large_Healthcare_Institutions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7"/>
              </a:rPr>
              <a:t>https://www.sciencedirect.com/search?qs=predictive maintenance medical equipment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8"/>
              </a:rPr>
              <a:t>https://ieeexplore.ieee.org/document/10233874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9"/>
              </a:rPr>
              <a:t>https://www.researchgate.net/publication/391526112_Predictive_Maintenance_Using_Machine_Learning_Techniques_and_Applications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10"/>
              </a:rPr>
              <a:t>https://www.researchgate.net/publication/339627406_Space_mining_is_the_industry_of_the_future_or_maybe_the_present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11"/>
              </a:rPr>
              <a:t>https://www.who.int/teams/health-product-policy-and-standards/assistive-and-medical-technology/medical-devices/policies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12"/>
              </a:rPr>
              <a:t>https://www.geeksforgeeks.org/machine-learning/understanding-logistic-regression/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13"/>
              </a:rPr>
              <a:t>https://www.geeksforgeeks.org/software-engineering/what-is-preventive-maintenance-pm-a-complete-guide/</a:t>
            </a:r>
            <a:endParaRPr lang="en-US" sz="2000" dirty="0"/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10"/>
              </a:rPr>
              <a:t>https://www.researchgate.net/publication/339627406_Space_mining_is_the_industry_of_the_future_or_maybe_the_present</a:t>
            </a:r>
            <a:endParaRPr lang="en-US" sz="2000" dirty="0"/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 u="sng" dirty="0">
                <a:hlinkClick r:id="rId14"/>
              </a:rPr>
              <a:t>https://www.sciencedirect.com/science/article/pii/S2543106425000201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615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1054</Words>
  <Application>Microsoft Macintosh PowerPoint</Application>
  <PresentationFormat>Custom</PresentationFormat>
  <Paragraphs>155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Gatwick Bold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and Violet Creative Agency Pitch Deck</dc:title>
  <cp:lastModifiedBy>Tharun tej</cp:lastModifiedBy>
  <cp:revision>7</cp:revision>
  <dcterms:created xsi:type="dcterms:W3CDTF">2006-08-16T00:00:00Z</dcterms:created>
  <dcterms:modified xsi:type="dcterms:W3CDTF">2026-01-03T07:36:29Z</dcterms:modified>
  <dc:identifier>DAG6Rq2FTzQ</dc:identifier>
</cp:coreProperties>
</file>