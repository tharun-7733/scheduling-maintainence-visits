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71" r:id="rId8"/>
    <p:sldId id="268" r:id="rId9"/>
    <p:sldId id="261" r:id="rId10"/>
    <p:sldId id="270" r:id="rId11"/>
    <p:sldId id="263" r:id="rId12"/>
    <p:sldId id="269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Gatwick Bold" pitchFamily="2" charset="77"/>
      <p:regular r:id="rId18"/>
      <p:bold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20FF"/>
    <a:srgbClr val="007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6" autoAdjust="0"/>
    <p:restoredTop sz="94610" autoAdjust="0"/>
  </p:normalViewPr>
  <p:slideViewPr>
    <p:cSldViewPr>
      <p:cViewPr varScale="1">
        <p:scale>
          <a:sx n="79" d="100"/>
          <a:sy n="79" d="100"/>
        </p:scale>
        <p:origin x="272" y="14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585864" y="2590007"/>
            <a:ext cx="17162898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5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Predictive Maintenance Scheduling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2BB790-0156-8C65-31F1-2AE442195243}"/>
              </a:ext>
            </a:extLst>
          </p:cNvPr>
          <p:cNvSpPr txBox="1"/>
          <p:nvPr/>
        </p:nvSpPr>
        <p:spPr>
          <a:xfrm>
            <a:off x="2665863" y="4581461"/>
            <a:ext cx="6309360" cy="1906291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Tarun Teja</a:t>
            </a:r>
          </a:p>
          <a:p>
            <a:pPr>
              <a:lnSpc>
                <a:spcPct val="200000"/>
              </a:lnSpc>
            </a:pP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Umesh Chandra</a:t>
            </a:r>
          </a:p>
          <a:p>
            <a:pPr>
              <a:lnSpc>
                <a:spcPct val="200000"/>
              </a:lnSpc>
            </a:pP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Manish B</a:t>
            </a:r>
          </a:p>
        </p:txBody>
      </p:sp>
      <p:grpSp>
        <p:nvGrpSpPr>
          <p:cNvPr id="23" name="Group 17">
            <a:extLst>
              <a:ext uri="{FF2B5EF4-FFF2-40B4-BE49-F238E27FC236}">
                <a16:creationId xmlns:a16="http://schemas.microsoft.com/office/drawing/2014/main" id="{D1A21A79-2892-6AFB-0880-F2F5DC5B6D66}"/>
              </a:ext>
            </a:extLst>
          </p:cNvPr>
          <p:cNvGrpSpPr/>
          <p:nvPr/>
        </p:nvGrpSpPr>
        <p:grpSpPr>
          <a:xfrm rot="5400000" flipV="1">
            <a:off x="1424268" y="5509906"/>
            <a:ext cx="2116333" cy="366857"/>
            <a:chOff x="202650" y="-38100"/>
            <a:chExt cx="999767" cy="100271"/>
          </a:xfrm>
        </p:grpSpPr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BD69C769-3E96-84FA-E6F4-DF016129562B}"/>
                </a:ext>
              </a:extLst>
            </p:cNvPr>
            <p:cNvSpPr/>
            <p:nvPr/>
          </p:nvSpPr>
          <p:spPr>
            <a:xfrm>
              <a:off x="202650" y="49675"/>
              <a:ext cx="816096" cy="12496"/>
            </a:xfrm>
            <a:custGeom>
              <a:avLst/>
              <a:gdLst/>
              <a:ahLst/>
              <a:cxnLst/>
              <a:rect l="l" t="t" r="r" b="b"/>
              <a:pathLst>
                <a:path w="1202417" h="62171">
                  <a:moveTo>
                    <a:pt x="0" y="0"/>
                  </a:moveTo>
                  <a:lnTo>
                    <a:pt x="1202417" y="0"/>
                  </a:lnTo>
                  <a:lnTo>
                    <a:pt x="1202417" y="62171"/>
                  </a:lnTo>
                  <a:lnTo>
                    <a:pt x="0" y="62171"/>
                  </a:lnTo>
                  <a:close/>
                </a:path>
              </a:pathLst>
            </a:custGeom>
            <a:solidFill>
              <a:srgbClr val="E1EBF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19">
              <a:extLst>
                <a:ext uri="{FF2B5EF4-FFF2-40B4-BE49-F238E27FC236}">
                  <a16:creationId xmlns:a16="http://schemas.microsoft.com/office/drawing/2014/main" id="{29A3E5DA-3469-F90E-AEE0-AD404C1D27EA}"/>
                </a:ext>
              </a:extLst>
            </p:cNvPr>
            <p:cNvSpPr txBox="1"/>
            <p:nvPr/>
          </p:nvSpPr>
          <p:spPr>
            <a:xfrm>
              <a:off x="202651" y="-38100"/>
              <a:ext cx="999766" cy="1002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28" name="TextBox 19">
            <a:extLst>
              <a:ext uri="{FF2B5EF4-FFF2-40B4-BE49-F238E27FC236}">
                <a16:creationId xmlns:a16="http://schemas.microsoft.com/office/drawing/2014/main" id="{5BED99E8-01EE-26C9-1839-4782A727B048}"/>
              </a:ext>
            </a:extLst>
          </p:cNvPr>
          <p:cNvSpPr txBox="1"/>
          <p:nvPr/>
        </p:nvSpPr>
        <p:spPr>
          <a:xfrm rot="1162526">
            <a:off x="6315363" y="5480801"/>
            <a:ext cx="4565428" cy="38071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359"/>
              </a:lnSpc>
            </a:pPr>
            <a:endParaRPr/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51CBABBF-73E7-EE2B-2435-9D7A904CC61F}"/>
              </a:ext>
            </a:extLst>
          </p:cNvPr>
          <p:cNvSpPr txBox="1"/>
          <p:nvPr/>
        </p:nvSpPr>
        <p:spPr>
          <a:xfrm>
            <a:off x="183508" y="391459"/>
            <a:ext cx="17162898" cy="1738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5000" dirty="0">
                <a:solidFill>
                  <a:schemeClr val="bg2">
                    <a:lumMod val="25000"/>
                  </a:schemeClr>
                </a:solidFill>
                <a:latin typeface="Gatwick Bold"/>
                <a:ea typeface="Gatwick Bold"/>
                <a:cs typeface="Gatwick Bold"/>
                <a:sym typeface="Gatwick Bold"/>
              </a:rPr>
              <a:t>INT395</a:t>
            </a:r>
          </a:p>
          <a:p>
            <a:pPr algn="ctr">
              <a:lnSpc>
                <a:spcPts val="7200"/>
              </a:lnSpc>
            </a:pPr>
            <a:r>
              <a:rPr lang="en-US" sz="4000" dirty="0">
                <a:solidFill>
                  <a:schemeClr val="bg2">
                    <a:lumMod val="25000"/>
                  </a:schemeClr>
                </a:solidFill>
                <a:latin typeface="Gatwick Bold"/>
                <a:ea typeface="Gatwick Bold"/>
                <a:cs typeface="Gatwick Bold"/>
                <a:sym typeface="Gatwick Bold"/>
              </a:rPr>
              <a:t>CA-1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3B22-73D1-FD89-83F4-6E3826085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DCC78760-87EC-157A-F2C3-D50429AF0A83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6BF5852-98A9-04CA-6BD4-CFE210839FED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C502C7FC-57A9-EF55-1CD5-DF9B0370EFA8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A0B08797-14A9-21E4-EA3A-F2AC2C2D7721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EF2AC7F-6775-D321-CA8F-D97F8E097F5C}"/>
              </a:ext>
            </a:extLst>
          </p:cNvPr>
          <p:cNvSpPr txBox="1"/>
          <p:nvPr/>
        </p:nvSpPr>
        <p:spPr>
          <a:xfrm>
            <a:off x="820302" y="895773"/>
            <a:ext cx="1281949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Outline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457CEE-652D-D5EF-EED6-27BAAE519305}"/>
              </a:ext>
            </a:extLst>
          </p:cNvPr>
          <p:cNvSpPr txBox="1"/>
          <p:nvPr/>
        </p:nvSpPr>
        <p:spPr>
          <a:xfrm>
            <a:off x="1295400" y="2400300"/>
            <a:ext cx="8610600" cy="5801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Background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Problem Statement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Dataset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Methodology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5. Models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6. Results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7. Caveats &amp; Limitations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8. Conclusion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9. Acknowledgements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10. References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D07E5BA-36FD-70BC-C84D-C7D6A5609971}"/>
              </a:ext>
            </a:extLst>
          </p:cNvPr>
          <p:cNvCxnSpPr>
            <a:cxnSpLocks/>
          </p:cNvCxnSpPr>
          <p:nvPr/>
        </p:nvCxnSpPr>
        <p:spPr>
          <a:xfrm>
            <a:off x="1371600" y="30861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5905DBA-3143-BD1E-7BAA-4E3C074798F6}"/>
              </a:ext>
            </a:extLst>
          </p:cNvPr>
          <p:cNvCxnSpPr>
            <a:cxnSpLocks/>
          </p:cNvCxnSpPr>
          <p:nvPr/>
        </p:nvCxnSpPr>
        <p:spPr>
          <a:xfrm>
            <a:off x="1371600" y="36195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DCCF91B-4085-3D97-6A92-38ECC1CAB539}"/>
              </a:ext>
            </a:extLst>
          </p:cNvPr>
          <p:cNvCxnSpPr>
            <a:cxnSpLocks/>
          </p:cNvCxnSpPr>
          <p:nvPr/>
        </p:nvCxnSpPr>
        <p:spPr>
          <a:xfrm>
            <a:off x="1371600" y="42291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8854D54-B4BA-5EFC-08A8-F48D609F5A95}"/>
              </a:ext>
            </a:extLst>
          </p:cNvPr>
          <p:cNvCxnSpPr>
            <a:cxnSpLocks/>
          </p:cNvCxnSpPr>
          <p:nvPr/>
        </p:nvCxnSpPr>
        <p:spPr>
          <a:xfrm>
            <a:off x="1371600" y="47625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A8B6652-9424-32C9-1A72-116A41C6F1C9}"/>
              </a:ext>
            </a:extLst>
          </p:cNvPr>
          <p:cNvCxnSpPr>
            <a:cxnSpLocks/>
          </p:cNvCxnSpPr>
          <p:nvPr/>
        </p:nvCxnSpPr>
        <p:spPr>
          <a:xfrm>
            <a:off x="1371600" y="53721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E0A6429-9B5B-F6BA-34CE-81CCA9E1D605}"/>
              </a:ext>
            </a:extLst>
          </p:cNvPr>
          <p:cNvCxnSpPr>
            <a:cxnSpLocks/>
          </p:cNvCxnSpPr>
          <p:nvPr/>
        </p:nvCxnSpPr>
        <p:spPr>
          <a:xfrm>
            <a:off x="1371600" y="59055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0DC8-9B2E-24F2-42F3-A01A346E96FE}"/>
              </a:ext>
            </a:extLst>
          </p:cNvPr>
          <p:cNvCxnSpPr>
            <a:cxnSpLocks/>
          </p:cNvCxnSpPr>
          <p:nvPr/>
        </p:nvCxnSpPr>
        <p:spPr>
          <a:xfrm>
            <a:off x="1371600" y="65151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38709D8-36A8-6072-E9CE-D52C9905CB06}"/>
              </a:ext>
            </a:extLst>
          </p:cNvPr>
          <p:cNvCxnSpPr>
            <a:cxnSpLocks/>
          </p:cNvCxnSpPr>
          <p:nvPr/>
        </p:nvCxnSpPr>
        <p:spPr>
          <a:xfrm>
            <a:off x="1371600" y="70485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8B764C8-1EA7-AA71-37D1-EDAA97B69ED3}"/>
              </a:ext>
            </a:extLst>
          </p:cNvPr>
          <p:cNvCxnSpPr>
            <a:cxnSpLocks/>
          </p:cNvCxnSpPr>
          <p:nvPr/>
        </p:nvCxnSpPr>
        <p:spPr>
          <a:xfrm>
            <a:off x="1371600" y="7658100"/>
            <a:ext cx="6781800" cy="0"/>
          </a:xfrm>
          <a:prstGeom prst="line">
            <a:avLst/>
          </a:prstGeom>
          <a:ln cmpd="sng">
            <a:solidFill>
              <a:srgbClr val="6420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149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23A3C-A2FF-D759-E439-CB0557EDD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3229F343-14EA-5BD2-7ABD-86212B7D907C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EF57C01-AAA5-CE87-B23A-BA814D774D4E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E470FB92-A6B7-D441-D340-636F2F878BB0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FBE6BB1D-97A9-B5ED-2C7C-3FB8AF896BED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24F0DEB4-7E71-A961-AA76-EF0F9524F1A3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Background</a:t>
            </a: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D15EA4E9-0B89-C092-CEC8-9620DA6CDF5D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524000" y="2705100"/>
            <a:ext cx="1600200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Hospitals rely on medical devices, and unexpected failures can disrupt patient care and increase costs.</a:t>
            </a: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Traditional maintenance is mostly schedule-based and doesn’t use data to anticipate failures.</a:t>
            </a: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Device usage, age, downtime, and past failures contain patterns that can help predict risk.</a:t>
            </a: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Using machine learning to classify maintenance needs can make hospital operations safer and more efficient.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565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6CD88-74F6-191C-9055-D5D7F15CC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03EC7797-479F-14BD-424F-7CE8826AF3F6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A5A3E36-7A74-0154-3C27-5A317A951E5A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5BC3C34-5D93-3A59-09C7-D40BD0E71A42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D405ECD2-0DC5-6312-9A91-CB65631FFEEC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9E01167-B245-4DFB-CFBB-533D83B9C14D}"/>
              </a:ext>
            </a:extLst>
          </p:cNvPr>
          <p:cNvSpPr txBox="1"/>
          <p:nvPr/>
        </p:nvSpPr>
        <p:spPr>
          <a:xfrm>
            <a:off x="820302" y="895773"/>
            <a:ext cx="1137169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Problem Statement</a:t>
            </a: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850BFD65-66AF-5E5E-448C-19999B7FF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7817" y="2894964"/>
            <a:ext cx="16905383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Predict the maintenance risk level of medical devices based on their operational and maintenance history.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Classify each device into a maintenance class so hospitals can prioritize which devices need attention first.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Build a model that uses device features (age, downtime, failures, cost, etc.) to accurately identify high-risk equipment.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Enable proactive maintenance decisions instead of reacting to unexpected device failures.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5633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995D1-1619-A121-6290-AD234EB53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EF9A95D-7D0E-9202-FF1B-9ED544685D19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30E39C1-5E2A-5524-BDA8-66B128CD0485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C93F011-A6C4-0104-5D36-59D1B2C159F3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A87F4DC4-0E3B-3881-3046-F4B77B7F631C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74B8763-B5EF-4D27-F327-48549A1E98B8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Dataset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38D6F6-000D-6CC4-A9F6-3CFE105AF3E0}"/>
              </a:ext>
            </a:extLst>
          </p:cNvPr>
          <p:cNvSpPr txBox="1"/>
          <p:nvPr/>
        </p:nvSpPr>
        <p:spPr>
          <a:xfrm>
            <a:off x="1371600" y="2476500"/>
            <a:ext cx="16687800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Source of the dataset: </a:t>
            </a: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Kaggle</a:t>
            </a:r>
          </a:p>
          <a:p>
            <a:b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25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Features involved: </a:t>
            </a: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Device type, age, manufacturer, model, country, maintenance cost, downtime, maintenance frequency, failure event count, and maintenance report text.</a:t>
            </a:r>
          </a:p>
          <a:p>
            <a:endParaRPr lang="en-US" sz="2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25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Size of dataset:</a:t>
            </a: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5,000 rows and 20 columns.</a:t>
            </a:r>
          </a:p>
          <a:p>
            <a:endParaRPr lang="en-US" sz="2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25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Preprocessing done: </a:t>
            </a: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Handled categorical encoding, scaled numerical features, checked for missing values, and cleaned text fields.</a:t>
            </a:r>
          </a:p>
          <a:p>
            <a:endParaRPr lang="en-US" sz="2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en-US" sz="25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Any challenges with the data: </a:t>
            </a:r>
            <a:r>
              <a:rPr lang="en-US" sz="25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Mixed data types, noisy free-text maintenance reports, and risk of model overfitting due to limited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551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97F2E-D58D-1FBA-BCEE-9B29C670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F78E8E35-8139-A815-5A1B-CF9B64C912C9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F363854-0166-6B21-EAC7-ACDA5090D53E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4807445E-BB32-AB96-9320-C4BBB2DD7EDE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8514E7F2-D695-26BC-4389-592A2095C2EE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DB150F7-57C1-05F2-8D4D-21591D9BD0C7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Methodology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C284A2-7CA9-059B-2EF2-E4F62336AAFD}"/>
              </a:ext>
            </a:extLst>
          </p:cNvPr>
          <p:cNvSpPr txBox="1"/>
          <p:nvPr/>
        </p:nvSpPr>
        <p:spPr>
          <a:xfrm>
            <a:off x="3578646" y="2095500"/>
            <a:ext cx="10058400" cy="7532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Load dataset </a:t>
            </a: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71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Clean data </a:t>
            </a: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71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Encode categorical features </a:t>
            </a: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1" i="0" u="none" strike="noStrike" cap="none" normalizeH="0" baseline="0" dirty="0">
              <a:ln>
                <a:noFill/>
              </a:ln>
              <a:solidFill>
                <a:srgbClr val="0071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Scale numeric columns </a:t>
            </a: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1" i="0" u="none" strike="noStrike" cap="none" normalizeH="0" baseline="0" dirty="0">
              <a:ln>
                <a:noFill/>
              </a:ln>
              <a:solidFill>
                <a:srgbClr val="0071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Split into training and testing sets</a:t>
            </a: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1" i="0" u="none" strike="noStrike" cap="none" normalizeH="0" baseline="0" dirty="0">
              <a:ln>
                <a:noFill/>
              </a:ln>
              <a:solidFill>
                <a:srgbClr val="0071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Train multiple ML models</a:t>
            </a: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1" i="0" u="none" strike="noStrike" cap="none" normalizeH="0" baseline="0" dirty="0">
              <a:ln>
                <a:noFill/>
              </a:ln>
              <a:solidFill>
                <a:srgbClr val="0071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71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Compare performance metrics.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5260B8-AC51-BF39-963E-7D22FC36728E}"/>
              </a:ext>
            </a:extLst>
          </p:cNvPr>
          <p:cNvCxnSpPr>
            <a:cxnSpLocks/>
          </p:cNvCxnSpPr>
          <p:nvPr/>
        </p:nvCxnSpPr>
        <p:spPr>
          <a:xfrm flipH="1">
            <a:off x="8605092" y="2718900"/>
            <a:ext cx="2754" cy="5334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6D2C89-61D8-BD77-3375-5DA6457A7066}"/>
              </a:ext>
            </a:extLst>
          </p:cNvPr>
          <p:cNvCxnSpPr>
            <a:cxnSpLocks/>
          </p:cNvCxnSpPr>
          <p:nvPr/>
        </p:nvCxnSpPr>
        <p:spPr>
          <a:xfrm flipH="1">
            <a:off x="8605092" y="3893100"/>
            <a:ext cx="2754" cy="5334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8E40F2-F9A8-2BCA-DE5F-CF7FDE29D9C8}"/>
              </a:ext>
            </a:extLst>
          </p:cNvPr>
          <p:cNvCxnSpPr>
            <a:cxnSpLocks/>
          </p:cNvCxnSpPr>
          <p:nvPr/>
        </p:nvCxnSpPr>
        <p:spPr>
          <a:xfrm flipH="1">
            <a:off x="8602338" y="7392036"/>
            <a:ext cx="2754" cy="5334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913FFBF-1E04-A2E2-ECFF-550E6E64817D}"/>
              </a:ext>
            </a:extLst>
          </p:cNvPr>
          <p:cNvCxnSpPr>
            <a:cxnSpLocks/>
          </p:cNvCxnSpPr>
          <p:nvPr/>
        </p:nvCxnSpPr>
        <p:spPr>
          <a:xfrm flipH="1">
            <a:off x="8605092" y="6183634"/>
            <a:ext cx="2754" cy="5334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9F0FC3-FAAE-C350-4710-B8C2745811DC}"/>
              </a:ext>
            </a:extLst>
          </p:cNvPr>
          <p:cNvCxnSpPr>
            <a:cxnSpLocks/>
          </p:cNvCxnSpPr>
          <p:nvPr/>
        </p:nvCxnSpPr>
        <p:spPr>
          <a:xfrm flipH="1">
            <a:off x="8602338" y="5067300"/>
            <a:ext cx="2754" cy="609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8B51E0C-74C5-6C7C-9CC8-47AD59AEFC99}"/>
              </a:ext>
            </a:extLst>
          </p:cNvPr>
          <p:cNvCxnSpPr>
            <a:cxnSpLocks/>
          </p:cNvCxnSpPr>
          <p:nvPr/>
        </p:nvCxnSpPr>
        <p:spPr>
          <a:xfrm flipH="1">
            <a:off x="8602338" y="8474168"/>
            <a:ext cx="2754" cy="5334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417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D5D1A-2B6E-FD1E-B23A-19702BFC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0A6682D9-5AD6-CEEB-E6AD-A8E1D24AC40F}"/>
              </a:ext>
            </a:extLst>
          </p:cNvPr>
          <p:cNvGrpSpPr/>
          <p:nvPr/>
        </p:nvGrpSpPr>
        <p:grpSpPr>
          <a:xfrm>
            <a:off x="-51983" y="441104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0B33D98-7F31-34B8-CB34-C9292ADFDA05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9E79467-4A52-CDA4-BAB4-D92B360755F1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6F83E2F3-02B4-3ABF-E877-31E205F94766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06A1BC-48C5-85DA-D39D-F6A7543AA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7714" y="1475296"/>
            <a:ext cx="584213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BC56789B-7D31-6B25-9F66-6A0D07EB0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7143" y="1475296"/>
            <a:ext cx="5943600" cy="418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7832AF6-C9AA-2BE9-E80D-76240244FC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7714" y="6112573"/>
            <a:ext cx="5943600" cy="4147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E2A3AD32-4542-4EF6-29E4-4D8823A646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7143" y="6009487"/>
            <a:ext cx="5943600" cy="425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6564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ED231-7080-9DD4-6796-7EE3743BB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FCFCFD4B-73B1-A9E8-CCA0-BE0563F7D831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DDDB0E1-7242-809D-7AE7-A6121EE26F26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488C18A4-CAF6-6BCE-1291-ACF94597DBED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633F159F-9BF7-9CBE-635F-D810EE8DE242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54E4743-D902-0DDF-65BA-2D5AB5FB3C59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Methodology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19FF9B0D-B731-B8D0-E0B5-AFF2DCA2D67C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647496" y="2627426"/>
            <a:ext cx="16459200" cy="50321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Train–Test Split: </a:t>
            </a: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Dataset split into training and testing sets to evaluate model generalization.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Engineering: </a:t>
            </a: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Label encoding for categorical fields, handling text fields, scaling/normalizing numerical features.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Algorithms Tried: </a:t>
            </a: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Logistic Regression, KNN, Decision Tree, Random Forest, Gradient Boosting, XGBoost classifier, SVM.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Final Model Choice: </a:t>
            </a: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XGBoost selected because it achieved the highest accuracy and consistently outperformed the other models.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Tools Used:</a:t>
            </a: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Python, pandas, NumPy, scikit-learn, XGBoost, Matplotlib/Seaborn for visualization.</a:t>
            </a:r>
            <a:endParaRPr kumimoji="0" lang="en-US" altLang="en-US" sz="25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883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35FD6-CD9D-7CE9-4621-CA64EAF30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2FCB4683-2C60-EA1F-5D85-520CC643B659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6933AF3-53FD-5EC1-D410-96D45153B67E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A2B9C5A-153E-B565-EC10-E44304B9CF6F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FEECCE6B-13F7-6953-49EE-8B61EA04DEBA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236CEFA-4202-6F76-F291-7776B056B9FE}"/>
              </a:ext>
            </a:extLst>
          </p:cNvPr>
          <p:cNvSpPr txBox="1"/>
          <p:nvPr/>
        </p:nvSpPr>
        <p:spPr>
          <a:xfrm>
            <a:off x="820302" y="895773"/>
            <a:ext cx="1144789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Model Explanation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64DC962-D5FC-1AF2-7787-ADAF54AED161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669267" y="2663992"/>
            <a:ext cx="16306800" cy="3939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We tested 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seven models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Logistic Regression, KNN, Decision Tree, Random Forest, Gradient Boosting, XGBoost, and SVM.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Each model learned from device features like age, downtime, cost, and past failure events.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Our best-performing model was </a:t>
            </a:r>
            <a:r>
              <a:rPr lang="en-US" altLang="en-US" sz="2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Logistic Regression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which builds many small decision trees and improves them step by step.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5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  <a:r>
              <a:rPr kumimoji="0" lang="en-US" altLang="en-US" sz="25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Logistic Regression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captured the patterns in the data most effectively, giving the highest accuracy among all models.</a:t>
            </a:r>
          </a:p>
        </p:txBody>
      </p:sp>
    </p:spTree>
    <p:extLst>
      <p:ext uri="{BB962C8B-B14F-4D97-AF65-F5344CB8AC3E}">
        <p14:creationId xmlns:p14="http://schemas.microsoft.com/office/powerpoint/2010/main" val="449594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405C6-8AE4-472D-DC17-28C2AEFC2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FF874F7F-EB6D-216E-15FC-1B1728586DF0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6864F3F9-7429-3533-4500-41214C2A7EF4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22D4B87-7FC0-209A-514C-CB3AEA38B261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8D8BBEF9-C634-8155-2EC1-0310A64867D2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33B507B-B4D9-B51D-F3E6-BB1AD7AAC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303" y="1407746"/>
            <a:ext cx="8325394" cy="747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35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8D346-DD7C-F17E-4D64-E6C21EDE3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831AFECE-3869-1DAA-29EF-EB2892818727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6E5D156-5386-2FE4-BD7E-1A2AFC65C05F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92915F38-EBEF-48E5-03E4-A74459311A5B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1D93ACFF-BF58-4823-7338-D02E5955645C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E94304E5-D1D3-9439-4CB7-591B2C60A182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Results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7F3C791-BE36-F823-7E52-FD0329E7E6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455840"/>
              </p:ext>
            </p:extLst>
          </p:nvPr>
        </p:nvGraphicFramePr>
        <p:xfrm>
          <a:off x="3048000" y="2611230"/>
          <a:ext cx="12192000" cy="474980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487039602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54201389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11238293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935769516"/>
                    </a:ext>
                  </a:extLst>
                </a:gridCol>
              </a:tblGrid>
              <a:tr h="593725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>
                    <a:solidFill>
                      <a:srgbClr val="642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Model</a:t>
                      </a:r>
                    </a:p>
                  </a:txBody>
                  <a:tcPr anchor="ctr">
                    <a:solidFill>
                      <a:srgbClr val="642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Train_acc</a:t>
                      </a:r>
                    </a:p>
                  </a:txBody>
                  <a:tcPr anchor="ctr">
                    <a:solidFill>
                      <a:srgbClr val="642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Test_acc</a:t>
                      </a:r>
                    </a:p>
                  </a:txBody>
                  <a:tcPr anchor="ctr">
                    <a:solidFill>
                      <a:srgbClr val="642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216356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0.906598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0.887952</a:t>
                      </a:r>
                      <a:endParaRPr lang="en-US" sz="2000" dirty="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16562590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0.758361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0.657831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8220962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Decision Tree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0.934318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0.784337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0010928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0.960832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0.842169</a:t>
                      </a:r>
                      <a:endParaRPr lang="en-US" sz="2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3316129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0.936427</a:t>
                      </a:r>
                      <a:endParaRPr lang="en-US" sz="2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0.885542</a:t>
                      </a:r>
                      <a:endParaRPr lang="en-US" sz="2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6713088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XGBoost Classifier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1.000000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0.892771</a:t>
                      </a:r>
                      <a:endParaRPr lang="en-US" sz="2000" dirty="0"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97563358"/>
                  </a:ext>
                </a:extLst>
              </a:tr>
              <a:tr h="593725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SVM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0.976198</a:t>
                      </a:r>
                      <a:endParaRPr lang="en-US" sz="2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kern="1200" dirty="0">
                          <a:solidFill>
                            <a:schemeClr val="dk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0.861446</a:t>
                      </a:r>
                      <a:endParaRPr lang="en-US" sz="2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4802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42464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A6996-197B-65B2-6211-E0C2DD09B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75B76458-1885-93D0-4DFF-2DBF179E3BBE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0D3069A-A947-C735-0FF7-C646B4938E79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F2F9E9AC-86BE-9C81-292D-7289C62CA02D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B375613B-F341-31C8-7579-2342EBFF5F72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C451363-253F-F723-6C14-C86737DDA011}"/>
              </a:ext>
            </a:extLst>
          </p:cNvPr>
          <p:cNvSpPr txBox="1"/>
          <p:nvPr/>
        </p:nvSpPr>
        <p:spPr>
          <a:xfrm>
            <a:off x="838200" y="9184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138CF1-136B-794C-2B07-690FE06996F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600200" y="2476500"/>
            <a:ext cx="16687800" cy="5863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Model Performance:</a:t>
            </a:r>
            <a:r>
              <a:rPr lang="en-US" altLang="en-US" sz="25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en-US" sz="2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Logistic Regression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achieved the highest accuracy (≈90%), outperforming Logistic Regression, Random Forest, SVM, and others.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Metrics: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Confusion Matrix:</a:t>
            </a:r>
            <a:r>
              <a:rPr lang="en-US" altLang="en-US" sz="25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Shows almost perfect classification with minimal mislabels, confirming the model’s reliability on this dataset.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Graphs:</a:t>
            </a:r>
            <a:r>
              <a:rPr lang="en-US" altLang="en-US" sz="25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ROC curves are near the top-left corner, and model comparison plots show XGBoost leading all other algorithms.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Interpretation:</a:t>
            </a:r>
            <a:r>
              <a:rPr lang="en-US" altLang="en-US" sz="25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features—device age, downtime, maintenance cost, and failure history—carry strong predictive power.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final model can accurately classify device maintenance risk and supports proactive maintenance planning.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232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C78C5-BCA0-2507-37E2-7C252638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68D76D4E-53DD-4674-A9B0-C1C98AC00457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D630112-DA2C-FC8F-0ABF-A19DEAB8EEAB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CDAA61F4-408C-B364-994B-C293CF68DAC2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797CD339-5F92-7431-335D-1B8F80EDDC6A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7EFE142-838F-B0F3-3860-F4EC19F09C04}"/>
              </a:ext>
            </a:extLst>
          </p:cNvPr>
          <p:cNvSpPr txBox="1"/>
          <p:nvPr/>
        </p:nvSpPr>
        <p:spPr>
          <a:xfrm>
            <a:off x="762000" y="918473"/>
            <a:ext cx="1213369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Caveats &amp; Limitations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C11369-030F-F101-8D31-6D310A107188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524000" y="2552700"/>
            <a:ext cx="16383000" cy="27853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Dataset is from Kaggle, so it may not fully represent real hospital conditions.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500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Text fields (maintenance reports) contain noise and weren’t deeply processed.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Model may not generalize well to different manufacturers, hospitals, or real-world device usage patterns.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Predictions support decision-making but do 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not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 replace expert technician judgment.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7779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38A5E-724F-D061-2AE5-E667E867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59CB977F-0B51-47F1-BFFB-B39AE11CA455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BAAF374-B6DB-49CC-C1A2-7290F66ACF50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7D804BA2-7957-16BB-F8D5-B1D7511A664C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0E1C6011-0CA0-A60B-93CE-1BEB5C089392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A56FC2A-822C-5022-ED89-AB82783261AF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Conclusion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AF527-3DA3-A38E-846D-A3BACA745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9266" y="2628900"/>
            <a:ext cx="16009133" cy="27853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We built a machine learning model that predicts maintenance needs for medical devices.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The results show strong predictive power, helping reduce unexpected failures and downtime.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This approach supports better technician scheduling and improves overall patient safety.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The project demonstrates how data-driven maintenance can make hospital operations more efficient.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7755C-88DF-F1CB-BF86-D1BF9D6F4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A571CF7-86BA-1D4A-A512-E2A2AFC137CB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5F27BA36-2586-9CA4-AB52-B9A570484939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D58AE12-07C2-AAB1-9C20-E046A0376049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495F4CC3-A7B2-B2A9-12EE-F51586D0BF77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960C6C9-038D-3969-E15E-5FECD2BA5D31}"/>
              </a:ext>
            </a:extLst>
          </p:cNvPr>
          <p:cNvSpPr txBox="1"/>
          <p:nvPr/>
        </p:nvSpPr>
        <p:spPr>
          <a:xfrm>
            <a:off x="820302" y="895773"/>
            <a:ext cx="11066898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Acknowledgements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19B0E2-3B7E-3B77-AA1A-680CE505AE53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652938" y="2705100"/>
            <a:ext cx="14572098" cy="27853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Instructor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 for guidance throughout the project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Team members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 for collaboration and support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Dataset source: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 Kaggle medical device maintenance dataset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Anyone who provided feedback or technical help during development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12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50414-6FCC-972F-4E36-BA187BF5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67073E8-3FF0-9F0E-4F8C-59C5AED28805}"/>
              </a:ext>
            </a:extLst>
          </p:cNvPr>
          <p:cNvGrpSpPr/>
          <p:nvPr/>
        </p:nvGrpSpPr>
        <p:grpSpPr>
          <a:xfrm>
            <a:off x="0" y="873903"/>
            <a:ext cx="585864" cy="1012470"/>
            <a:chOff x="0" y="0"/>
            <a:chExt cx="154302" cy="26665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3DB721E-F4AB-A2D1-E006-E73D1E97A7C1}"/>
                </a:ext>
              </a:extLst>
            </p:cNvPr>
            <p:cNvSpPr/>
            <p:nvPr/>
          </p:nvSpPr>
          <p:spPr>
            <a:xfrm>
              <a:off x="0" y="0"/>
              <a:ext cx="154302" cy="266659"/>
            </a:xfrm>
            <a:custGeom>
              <a:avLst/>
              <a:gdLst/>
              <a:ahLst/>
              <a:cxnLst/>
              <a:rect l="l" t="t" r="r" b="b"/>
              <a:pathLst>
                <a:path w="154302" h="266659">
                  <a:moveTo>
                    <a:pt x="0" y="0"/>
                  </a:moveTo>
                  <a:lnTo>
                    <a:pt x="154302" y="0"/>
                  </a:lnTo>
                  <a:lnTo>
                    <a:pt x="154302" y="266659"/>
                  </a:lnTo>
                  <a:lnTo>
                    <a:pt x="0" y="266659"/>
                  </a:lnTo>
                  <a:close/>
                </a:path>
              </a:pathLst>
            </a:custGeom>
            <a:solidFill>
              <a:srgbClr val="6420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45F49D0C-6889-20DE-0747-EA2EA064B272}"/>
                </a:ext>
              </a:extLst>
            </p:cNvPr>
            <p:cNvSpPr txBox="1"/>
            <p:nvPr/>
          </p:nvSpPr>
          <p:spPr>
            <a:xfrm>
              <a:off x="0" y="-38100"/>
              <a:ext cx="154302" cy="304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E1DBA113-6CAE-7894-4798-BBC8D35AE49A}"/>
              </a:ext>
            </a:extLst>
          </p:cNvPr>
          <p:cNvSpPr/>
          <p:nvPr/>
        </p:nvSpPr>
        <p:spPr>
          <a:xfrm>
            <a:off x="-49993" y="7392036"/>
            <a:ext cx="3438521" cy="2985929"/>
          </a:xfrm>
          <a:custGeom>
            <a:avLst/>
            <a:gdLst/>
            <a:ahLst/>
            <a:cxnLst/>
            <a:rect l="l" t="t" r="r" b="b"/>
            <a:pathLst>
              <a:path w="3438521" h="2985929">
                <a:moveTo>
                  <a:pt x="0" y="0"/>
                </a:moveTo>
                <a:lnTo>
                  <a:pt x="3438521" y="0"/>
                </a:lnTo>
                <a:lnTo>
                  <a:pt x="3438521" y="2985929"/>
                </a:lnTo>
                <a:lnTo>
                  <a:pt x="0" y="29859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9949" b="-23389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5A5C143E-005C-C6B8-9BB2-766048B85685}"/>
              </a:ext>
            </a:extLst>
          </p:cNvPr>
          <p:cNvSpPr txBox="1"/>
          <p:nvPr/>
        </p:nvSpPr>
        <p:spPr>
          <a:xfrm>
            <a:off x="820302" y="895773"/>
            <a:ext cx="6521688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dirty="0">
                <a:solidFill>
                  <a:srgbClr val="6420FF"/>
                </a:solidFill>
                <a:latin typeface="Gatwick Bold"/>
                <a:ea typeface="Gatwick Bold"/>
                <a:cs typeface="Gatwick Bold"/>
                <a:sym typeface="Gatwick Bold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766155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815</Words>
  <Application>Microsoft Macintosh PowerPoint</Application>
  <PresentationFormat>Custom</PresentationFormat>
  <Paragraphs>142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Gatwick Bold</vt:lpstr>
      <vt:lpstr>Open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Blue and Violet Creative Agency Pitch Deck</dc:title>
  <cp:lastModifiedBy>BOBBURI NAGA DURGA MANISH</cp:lastModifiedBy>
  <cp:revision>6</cp:revision>
  <dcterms:created xsi:type="dcterms:W3CDTF">2006-08-16T00:00:00Z</dcterms:created>
  <dcterms:modified xsi:type="dcterms:W3CDTF">2025-12-05T16:29:44Z</dcterms:modified>
  <dc:identifier>DAG6Rq2FTzQ</dc:identifier>
</cp:coreProperties>
</file>